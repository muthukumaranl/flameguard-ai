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fire kills, and the clock starts at ignition, not at alarm. Introduce the team and the one-line goal: detect fire and smoke in images, video and live camera, using a model we fine-tuned ourselves.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where the talk is going. Keep it to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smoke detector needs smoke to physically reach it — in a warehouse, atrium or forest that takes minutes or never happens. Cameras already watch these spaces. The hard part: smoke looks like fog, steam and cloud; sunsets look like fire. So the model must balance missing a real fire against crying wolf. ~1m15.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scope crisply: two classes, transfer learning (the course forbids presenting an unchanged pretrained model), a real application, and honest evaluation. Mention the constraint that shaped everything: one 4GB laptop GPU. ~1m.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shape of the data: 5,300 images, 7,225 boxes, imbalanced ~2.3 to 1 toward fire. Emphasise the 2,076 background images — they are not waste, they are how the model learns not to alarm on a sunset. ~1m.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The dataset ships mirrored and noise-injected copies of its own images, scattered across train, validation and test. 409 groups — 64% of all images — had members in more than one split. Training on that and reporting test numbers measures memorisation. We grouped images by perceptual hash and rebuilt the splits group-wise. Every number in this talk comes from the repaired data. If you take one thing from this talk, take this. ~2m.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 that changed decisions: 15% of boxes are small, so we kept the full 640px input instead of downscaling for speed. Smoke sits high in the frame and fire sits low — which is why we disabled vertical-flip augmentation. And a tenth of the images are dark night fires, so we kept brightness jitter moderate. ~1m15.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learning in one breath: COCO has 80 classes and none is fire, so the pretrained model cannot detect fire at all. What it brings is generic vision — edges, textures, shapes — from 118,000 images. We fine-tune ALL layers on our data. Single-stage detection is what makes the live webcam demo possible. ~1m30.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compute wall: FP32 was forced on us because AMP produces NaN losses on GTX 16xx GPUs. We measured YOLOv8s memory before training it — batch 8 wants ~7.9GB, batch 4 ~6.1GB, both spilling to system RAM — so we trained it at batch 2, the only size that fits, with gradient accumulation to a nominal batch of 64. It completed, and the bigger backbone still did not beat the baseline at our budget. ~1m30.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matters more than the result: a control run at the same budget, then three probes each changing exactly one thing. That makes any difference attributable. Report the outcome honestly — including probes that did not beat the control. The classification-loss probe won and went into the final model. ~1m15.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discipline: the threshold was chosen on validation, then the test set was touched once. Overall mAP@0.5 is 0.505. The per-class gap is the story — Fire AP 0.513 vs Smoke 0.498. Smoke is harder, exactly as the EDA predicted. ~1m45.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this. The model makes almost no class confusions — 1 in the whole test set — its errors are about whether something is there at all. Then the punchline: we fed it a plain orange rectangle, no fire, no texture, no structure, and it said Fire with 0.74 confidence, while random noise gives zero. The model learned a colour prior, not a concept of flame. That explains the entire false-positive gallery, and it is why hard-negative mining beats architecture search as the next step. ~1m45.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engineering: image, video and webcam all call the same predict path, so a threshold means the same thing everywhere and there is exactly one place a detection bug could hide. Mention the OpenCV fallback and why it exists — browser camera access fails in exactly the situation where a demo must not fail. ~1m15.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1) show model + device status in the sidebar; 2) upload a fire image; 3) a smoke image; 4) a both-classes image; 5) a negative/difficult image — let it be wrong and explain why; 6) run the short video; 7) start the webcam; 8) show the performance tab. If the webcam fails, switch to the OpenCV fallback; if that fails, play the backup video. Never debug live — fall back. ~2m30.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short. The point: the risk register earned its keep — we identified the leakage risk during Sprint 1 planning and mitigated it before spending GPU time on a model whose evaluation would have been worthless. 66 automated tests pass. ~1m.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lessons. Then the disclaimer — say it out loud, do not just leave it on the slide. Finish by inviting questions. ~1m15.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5643B">
                  <a:alpha val="30000"/>
                </a:srgbClr>
              </a:gs>
              <a:gs pos="52000">
                <a:srgbClr val="F5643B">
                  <a:alpha val="0"/>
                </a:srgbClr>
              </a:gs>
            </a:gsLst>
            <a:path path="circle">
              <a:fillToRect l="82000" t="12000" r="18000" b="88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047750" y="2669619"/>
            <a:ext cx="76200" cy="609600"/>
          </a:xfrm>
          <a:prstGeom prst="roundRect">
            <a:avLst>
              <a:gd name="adj" fmla="val 50000"/>
            </a:avLst>
          </a:prstGeom>
          <a:solidFill>
            <a:srgbClr val="DE3B41"/>
          </a:solidFill>
          <a:ln/>
        </p:spPr>
      </p:sp>
      <p:sp>
        <p:nvSpPr>
          <p:cNvPr id="4" name="Text 2"/>
          <p:cNvSpPr/>
          <p:nvPr/>
        </p:nvSpPr>
        <p:spPr>
          <a:xfrm>
            <a:off x="1314450" y="2825830"/>
            <a:ext cx="91750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429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AASD 4014 · DEEP LEARNING II · FINAL PROJECT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603069"/>
            <a:ext cx="17811750" cy="1545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066"/>
              </a:lnSpc>
              <a:buNone/>
            </a:pPr>
            <a:r>
              <a:rPr lang="en-US" sz="12900" b="1" spc="-4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2900" dirty="0"/>
          </a:p>
        </p:txBody>
      </p:sp>
      <p:sp>
        <p:nvSpPr>
          <p:cNvPr id="6" name="Text 4"/>
          <p:cNvSpPr/>
          <p:nvPr/>
        </p:nvSpPr>
        <p:spPr>
          <a:xfrm>
            <a:off x="1047750" y="5396032"/>
            <a:ext cx="13620750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450" b="1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Fire &amp; Smoke Detection Using Transfer Learning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47750" y="6544746"/>
            <a:ext cx="12382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6897171"/>
            <a:ext cx="305104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[GROUP #]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7266742"/>
            <a:ext cx="305104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 names]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83430" y="6897171"/>
            <a:ext cx="23721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83430" y="7266742"/>
            <a:ext cx="237210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[Submission date]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66"/>
              </a:lnSpc>
              <a:buNone/>
            </a:pPr>
            <a:r>
              <a:rPr lang="en-US" sz="5400" b="1" spc="-108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600" y="2468880"/>
            <a:ext cx="7867650" cy="15240"/>
          </a:xfrm>
          <a:prstGeom prst="rect">
            <a:avLst/>
          </a:prstGeom>
          <a:solidFill>
            <a:srgbClr val="E4E0DA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414355"/>
            <a:ext cx="742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924050" y="3437215"/>
            <a:ext cx="451789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the Goal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429750" y="2468880"/>
            <a:ext cx="7867650" cy="15240"/>
          </a:xfrm>
          <a:prstGeom prst="rect">
            <a:avLst/>
          </a:prstGeom>
          <a:solidFill>
            <a:srgbClr val="E4E0DA"/>
          </a:solidFill>
          <a:ln/>
        </p:spPr>
      </p:sp>
      <p:sp>
        <p:nvSpPr>
          <p:cNvPr id="8" name="Text 6"/>
          <p:cNvSpPr/>
          <p:nvPr/>
        </p:nvSpPr>
        <p:spPr>
          <a:xfrm>
            <a:off x="9429750" y="3414355"/>
            <a:ext cx="742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363200" y="3212425"/>
            <a:ext cx="7142226" cy="93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— and What Was Wrong With It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90600" y="4877991"/>
            <a:ext cx="7867650" cy="15240"/>
          </a:xfrm>
          <a:prstGeom prst="rect">
            <a:avLst/>
          </a:prstGeom>
          <a:solidFill>
            <a:srgbClr val="E4E0DA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5823466"/>
            <a:ext cx="742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924050" y="5846326"/>
            <a:ext cx="553212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&amp; the Experiments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429750" y="4877991"/>
            <a:ext cx="7867650" cy="15240"/>
          </a:xfrm>
          <a:prstGeom prst="rect">
            <a:avLst/>
          </a:prstGeom>
          <a:solidFill>
            <a:srgbClr val="E4E0DA"/>
          </a:solidFill>
          <a:ln/>
        </p:spPr>
      </p:sp>
      <p:sp>
        <p:nvSpPr>
          <p:cNvPr id="14" name="Text 12"/>
          <p:cNvSpPr/>
          <p:nvPr/>
        </p:nvSpPr>
        <p:spPr>
          <a:xfrm>
            <a:off x="9429750" y="5823466"/>
            <a:ext cx="742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363200" y="5846326"/>
            <a:ext cx="552373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and Where It Fails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90600" y="7287220"/>
            <a:ext cx="7867650" cy="15240"/>
          </a:xfrm>
          <a:prstGeom prst="rect">
            <a:avLst/>
          </a:prstGeom>
          <a:solidFill>
            <a:srgbClr val="E4E0DA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8232696"/>
            <a:ext cx="742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924050" y="8255556"/>
            <a:ext cx="5414772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&amp; Live Demo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429750" y="7287220"/>
            <a:ext cx="7867650" cy="15240"/>
          </a:xfrm>
          <a:prstGeom prst="rect">
            <a:avLst/>
          </a:prstGeom>
          <a:solidFill>
            <a:srgbClr val="E4E0DA"/>
          </a:solidFill>
          <a:ln/>
        </p:spPr>
      </p:sp>
      <p:sp>
        <p:nvSpPr>
          <p:cNvPr id="20" name="Text 18"/>
          <p:cNvSpPr/>
          <p:nvPr/>
        </p:nvSpPr>
        <p:spPr>
          <a:xfrm>
            <a:off x="9429750" y="8232696"/>
            <a:ext cx="742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363200" y="8255556"/>
            <a:ext cx="5750052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Worked &amp; Takeaways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4192905"/>
            <a:ext cx="8103679" cy="1859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smoke detectors only trigger once smoke physically </a:t>
            </a:r>
            <a:pPr algn="l" indent="0" marL="0">
              <a:lnSpc>
                <a:spcPct val="119000"/>
              </a:lnSpc>
              <a:buNone/>
            </a:pPr>
            <a:r>
              <a:rPr lang="en-US" sz="25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the device </a:t>
            </a:r>
            <a:pPr algn="l" indent="0" marL="0">
              <a:lnSpc>
                <a:spcPct val="119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 large or open spaces that can take minutes — or never happen at all.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6299835"/>
            <a:ext cx="8103679" cy="1405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already watch those spaces. A vision model can monitor a wide area </a:t>
            </a:r>
            <a:pPr algn="l" indent="0" marL="0">
              <a:lnSpc>
                <a:spcPct val="119000"/>
              </a:lnSpc>
              <a:buNone/>
            </a:pPr>
            <a:r>
              <a:rPr lang="en-US" sz="25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</a:t>
            </a:r>
            <a:pPr algn="l" indent="0" marL="0">
              <a:lnSpc>
                <a:spcPct val="119000"/>
              </a:lnSpc>
              <a:buNone/>
            </a:pPr>
            <a:r>
              <a:rPr lang="en-US" sz="2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localise a hazard the moment it appears.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429750" y="2411730"/>
            <a:ext cx="7867650" cy="7037070"/>
          </a:xfrm>
          <a:prstGeom prst="roundRect">
            <a:avLst>
              <a:gd name="adj" fmla="val 2707"/>
            </a:avLst>
          </a:prstGeom>
          <a:solidFill>
            <a:srgbClr val="17181A"/>
          </a:solidFill>
          <a:ln/>
        </p:spPr>
      </p:sp>
      <p:sp>
        <p:nvSpPr>
          <p:cNvPr id="7" name="Text 5"/>
          <p:cNvSpPr/>
          <p:nvPr/>
        </p:nvSpPr>
        <p:spPr>
          <a:xfrm>
            <a:off x="9925050" y="4515803"/>
            <a:ext cx="75647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HARD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25050" y="5018723"/>
            <a:ext cx="7083362" cy="129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is semi-transparent and easily confused with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fog, steam, dust and cloud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Sunsets and orange lamps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 flame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9925050" y="6502718"/>
            <a:ext cx="7083362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detector must balance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(never miss a fire) against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(never cry wolf).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Scope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2125980"/>
            <a:ext cx="14716125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6"/>
              </a:lnSpc>
              <a:buNone/>
            </a:pPr>
            <a:r>
              <a:rPr lang="en-US" sz="24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localise every visible instance of </a:t>
            </a:r>
            <a:pPr algn="l" indent="0" marL="0">
              <a:lnSpc>
                <a:spcPct val="116016"/>
              </a:lnSpc>
              <a:buNone/>
            </a:pPr>
            <a:r>
              <a:rPr lang="en-US" sz="24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</a:t>
            </a:r>
            <a:pPr algn="l" indent="0" marL="0">
              <a:lnSpc>
                <a:spcPct val="116016"/>
              </a:lnSpc>
              <a:buNone/>
            </a:pPr>
            <a:r>
              <a:rPr lang="en-US" sz="24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16016"/>
              </a:lnSpc>
              <a:buNone/>
            </a:pPr>
            <a:r>
              <a:rPr lang="en-US" sz="24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</a:t>
            </a:r>
            <a:pPr algn="l" indent="0" marL="0">
              <a:lnSpc>
                <a:spcPct val="116016"/>
              </a:lnSpc>
              <a:buNone/>
            </a:pPr>
            <a:r>
              <a:rPr lang="en-US" sz="24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image, video or live camera stream — in near real time, on commodity hardware, with a locally-trained model and no paid inference API.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990600" y="3477578"/>
            <a:ext cx="5219700" cy="5971223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3477578"/>
            <a:ext cx="5219700" cy="5334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1918"/>
            <a:ext cx="490347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39228" y="4433888"/>
            <a:ext cx="4466273" cy="2429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classes: Fire, Smoke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from pretrained weights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validation, EDA &amp; tuning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deployable app + downloadable outputs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34150" y="3477578"/>
            <a:ext cx="5219700" cy="5971223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34150" y="3477578"/>
            <a:ext cx="5219700" cy="53340"/>
          </a:xfrm>
          <a:prstGeom prst="rect">
            <a:avLst/>
          </a:prstGeom>
          <a:solidFill>
            <a:srgbClr val="435D74"/>
          </a:solidFill>
          <a:ln/>
        </p:spPr>
      </p:sp>
      <p:sp>
        <p:nvSpPr>
          <p:cNvPr id="11" name="Text 9"/>
          <p:cNvSpPr/>
          <p:nvPr/>
        </p:nvSpPr>
        <p:spPr>
          <a:xfrm>
            <a:off x="6915150" y="3911918"/>
            <a:ext cx="490347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82777" y="4433888"/>
            <a:ext cx="4466273" cy="2031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safety operation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/ infrared input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Multi-camera fusion &amp; alert dispatch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face or identity recognition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77700" y="3477578"/>
            <a:ext cx="5219700" cy="5971223"/>
          </a:xfrm>
          <a:prstGeom prst="roundRect">
            <a:avLst>
              <a:gd name="adj" fmla="val 3285"/>
            </a:avLst>
          </a:prstGeom>
          <a:solidFill>
            <a:srgbClr val="1718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7700" y="3477578"/>
            <a:ext cx="5219700" cy="53340"/>
          </a:xfrm>
          <a:prstGeom prst="rect">
            <a:avLst/>
          </a:prstGeom>
          <a:solidFill>
            <a:srgbClr val="F5643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58700" y="3911918"/>
            <a:ext cx="490347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526328" y="4433888"/>
            <a:ext cx="4466273" cy="163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4 GB laptop GPU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dataset we may not re-annotate</a:t>
            </a:r>
            <a:endParaRPr lang="en-US" sz="2025" dirty="0"/>
          </a:p>
          <a:p>
            <a:pPr algn="l" marL="180023" indent="-180023">
              <a:lnSpc>
                <a:spcPct val="130781"/>
              </a:lnSpc>
              <a:buSzPct val="100000"/>
              <a:buChar char="•"/>
              <a:tabLst>
                <a:tab pos="180023" algn="l"/>
              </a:tabLst>
            </a:pPr>
            <a:r>
              <a:rPr lang="en-US" sz="20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timeline of four sprints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2087880"/>
            <a:ext cx="1793748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Roboflow Universe </a:t>
            </a:r>
            <a:pPr algn="l" indent="0" marL="0">
              <a:buNone/>
            </a:pPr>
            <a:r>
              <a:rPr lang="en-US" sz="2250" i="1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&amp; smoke </a:t>
            </a:r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CC BY 4.0 · 640×640 · YOLOv8 format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3931920"/>
            <a:ext cx="4286214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05"/>
              </a:lnSpc>
              <a:buNone/>
            </a:pPr>
            <a:r>
              <a:rPr lang="en-US" sz="72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90600" y="4831080"/>
            <a:ext cx="428621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172909" y="3931920"/>
            <a:ext cx="4286345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05"/>
              </a:lnSpc>
              <a:buNone/>
            </a:pPr>
            <a:r>
              <a:rPr lang="en-US" sz="72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7,225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172909" y="4831080"/>
            <a:ext cx="42863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90600" y="5452110"/>
            <a:ext cx="4286214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05"/>
              </a:lnSpc>
              <a:buNone/>
            </a:pPr>
            <a:r>
              <a:rPr lang="en-US" sz="72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90600" y="6351270"/>
            <a:ext cx="428621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— Fire &amp; Smoke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5172909" y="5452110"/>
            <a:ext cx="4286345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05"/>
              </a:lnSpc>
              <a:buNone/>
            </a:pPr>
            <a:r>
              <a:rPr lang="en-US" sz="7200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2.3:1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172909" y="6351270"/>
            <a:ext cx="42863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fire-to-smoke imbalance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90600" y="7029450"/>
            <a:ext cx="8078986" cy="1360170"/>
          </a:xfrm>
          <a:prstGeom prst="roundRect">
            <a:avLst>
              <a:gd name="adj" fmla="val 11204"/>
            </a:avLst>
          </a:prstGeom>
          <a:solidFill>
            <a:srgbClr val="17181A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7315200"/>
            <a:ext cx="767365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2,076 images (39%) 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highlight>
                  <a:srgbClr val="1718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contain neither class. These are not waste — they teach the model </a:t>
            </a:r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highlight>
                  <a:srgbClr val="1718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 alarm on a sunset.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602986" y="2872740"/>
            <a:ext cx="7694414" cy="6576060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8987" b="-48987"/>
          <a:stretch/>
        </p:blipFill>
        <p:spPr>
          <a:xfrm>
            <a:off x="9850636" y="3120390"/>
            <a:ext cx="7199114" cy="56845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490680" y="8919210"/>
            <a:ext cx="79190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per split and the content mix within each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E3B41">
                  <a:alpha val="22000"/>
                </a:srgbClr>
              </a:gs>
              <a:gs pos="55000">
                <a:srgbClr val="DE3B41">
                  <a:alpha val="0"/>
                </a:srgbClr>
              </a:gs>
            </a:gsLst>
            <a:path path="circle">
              <a:fillToRect l="88000" t="15000" r="12000" b="85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— THE HEADLINE FINDING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90600" y="4064318"/>
            <a:ext cx="7760684" cy="1834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8354"/>
              </a:lnSpc>
              <a:buNone/>
            </a:pPr>
            <a:r>
              <a:rPr lang="en-US" sz="172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7250" dirty="0"/>
          </a:p>
        </p:txBody>
      </p:sp>
      <p:sp>
        <p:nvSpPr>
          <p:cNvPr id="6" name="Text 4"/>
          <p:cNvSpPr/>
          <p:nvPr/>
        </p:nvSpPr>
        <p:spPr>
          <a:xfrm>
            <a:off x="990600" y="6032182"/>
            <a:ext cx="7266823" cy="1706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images —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3,379 across 409 groups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had near-duplicate copies (mirrored, noise-injected, or sequential frames) scattered across train, validation </a:t>
            </a:r>
            <a:pPr algn="l" indent="0" marL="0">
              <a:lnSpc>
                <a:spcPct val="120556"/>
              </a:lnSpc>
              <a:buNone/>
            </a:pPr>
            <a:r>
              <a:rPr lang="en-US" sz="2325" i="1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8674418" y="3470910"/>
            <a:ext cx="8622982" cy="2158365"/>
          </a:xfrm>
          <a:prstGeom prst="roundRect">
            <a:avLst>
              <a:gd name="adj" fmla="val 5296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74418" y="3470910"/>
            <a:ext cx="53340" cy="2158365"/>
          </a:xfrm>
          <a:prstGeom prst="rect">
            <a:avLst/>
          </a:prstGeom>
          <a:solidFill>
            <a:srgbClr val="F5643B"/>
          </a:solidFill>
          <a:ln/>
        </p:spPr>
      </p:sp>
      <p:sp>
        <p:nvSpPr>
          <p:cNvPr id="9" name="Text 7"/>
          <p:cNvSpPr/>
          <p:nvPr/>
        </p:nvSpPr>
        <p:spPr>
          <a:xfrm>
            <a:off x="9051607" y="3756660"/>
            <a:ext cx="87141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051607" y="4168140"/>
            <a:ext cx="8159601" cy="1213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would have already seen the test scenes during training. Any metric on that split measures </a:t>
            </a:r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memorisation, not generalisation 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8674418" y="5876925"/>
            <a:ext cx="8622982" cy="177165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74418" y="5876925"/>
            <a:ext cx="53340" cy="1771650"/>
          </a:xfrm>
          <a:prstGeom prst="rect">
            <a:avLst/>
          </a:prstGeom>
          <a:solidFill>
            <a:srgbClr val="4CAF6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1607" y="6162675"/>
            <a:ext cx="87141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D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repair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051607" y="6574155"/>
            <a:ext cx="8159601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clustered images by </a:t>
            </a:r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perceptual hash 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rebuilt the splits group-wise (seed 42). Afterwards, </a:t>
            </a:r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groups span splits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8674418" y="7934325"/>
            <a:ext cx="948528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100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talk comes from the repaired data.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Design Choices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2087880"/>
            <a:ext cx="1793748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EDA finding fed a concrete modelling decision.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2910840"/>
            <a:ext cx="5219700" cy="6537960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3329940"/>
            <a:ext cx="48196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830"/>
              </a:lnSpc>
              <a:buNone/>
            </a:pPr>
            <a:r>
              <a:rPr lang="en-US" sz="6000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409700" y="4149090"/>
            <a:ext cx="4512945" cy="3789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boxes are </a:t>
            </a:r>
            <a:pPr algn="l" indent="0" marL="0">
              <a:lnSpc>
                <a:spcPct val="116518"/>
              </a:lnSpc>
              <a:buNone/>
            </a:pPr>
            <a:r>
              <a:rPr lang="en-US" sz="21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</a:t>
            </a:r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— distant flames only a few pixels across.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409700" y="8129588"/>
            <a:ext cx="4381500" cy="15240"/>
          </a:xfrm>
          <a:prstGeom prst="rect">
            <a:avLst/>
          </a:prstGeom>
          <a:solidFill>
            <a:srgbClr val="EFE9E1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8335328"/>
            <a:ext cx="4512945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→</a:t>
            </a:r>
            <a:pPr algn="l" indent="0" marL="0">
              <a:lnSpc>
                <a:spcPct val="113906"/>
              </a:lnSpc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full </a:t>
            </a:r>
            <a:pPr algn="l" indent="0" marL="0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 px </a:t>
            </a:r>
            <a:pPr algn="l" indent="0" marL="0">
              <a:lnSpc>
                <a:spcPct val="113906"/>
              </a:lnSpc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input; don't downscale for speed.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534150" y="2910840"/>
            <a:ext cx="5219700" cy="6537960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953250" y="3329940"/>
            <a:ext cx="48196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830"/>
              </a:lnSpc>
              <a:buNone/>
            </a:pPr>
            <a:r>
              <a:rPr lang="en-US" sz="6000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/ ↓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953250" y="4149090"/>
            <a:ext cx="4512945" cy="3789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rises </a:t>
            </a:r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sits high in the frame; </a:t>
            </a:r>
            <a:pPr algn="l" indent="0" marL="0">
              <a:lnSpc>
                <a:spcPct val="116518"/>
              </a:lnSpc>
              <a:buNone/>
            </a:pPr>
            <a:r>
              <a:rPr lang="en-US" sz="21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</a:t>
            </a:r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lower and central.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6953250" y="8129588"/>
            <a:ext cx="4381500" cy="15240"/>
          </a:xfrm>
          <a:prstGeom prst="rect">
            <a:avLst/>
          </a:prstGeom>
          <a:solidFill>
            <a:srgbClr val="EFE9E1"/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0" y="8335328"/>
            <a:ext cx="4512945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→</a:t>
            </a:r>
            <a:pPr algn="l" indent="0" marL="0">
              <a:lnSpc>
                <a:spcPct val="113906"/>
              </a:lnSpc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</a:t>
            </a:r>
            <a:pPr algn="l" indent="0" marL="0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vertical-flip </a:t>
            </a:r>
            <a:pPr algn="l" indent="0" marL="0">
              <a:lnSpc>
                <a:spcPct val="113906"/>
              </a:lnSpc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an upside-down plume never occurs.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2077700" y="2910840"/>
            <a:ext cx="5219700" cy="6537960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496800" y="3329940"/>
            <a:ext cx="48196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830"/>
              </a:lnSpc>
              <a:buNone/>
            </a:pPr>
            <a:r>
              <a:rPr lang="en-US" sz="6000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2496800" y="4149090"/>
            <a:ext cx="4512945" cy="3789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images are </a:t>
            </a:r>
            <a:pPr algn="l" indent="0" marL="0">
              <a:lnSpc>
                <a:spcPct val="116518"/>
              </a:lnSpc>
              <a:buNone/>
            </a:pPr>
            <a:r>
              <a:rPr lang="en-US" sz="21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</a:t>
            </a:r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night fires, the hardest and most important case.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2496800" y="8129588"/>
            <a:ext cx="4381500" cy="15240"/>
          </a:xfrm>
          <a:prstGeom prst="rect">
            <a:avLst/>
          </a:prstGeom>
          <a:solidFill>
            <a:srgbClr val="EFE9E1"/>
          </a:solidFill>
          <a:ln/>
        </p:spPr>
      </p:sp>
      <p:sp>
        <p:nvSpPr>
          <p:cNvPr id="19" name="Text 17"/>
          <p:cNvSpPr/>
          <p:nvPr/>
        </p:nvSpPr>
        <p:spPr>
          <a:xfrm>
            <a:off x="12496800" y="8335328"/>
            <a:ext cx="4512945" cy="732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→</a:t>
            </a:r>
            <a:pPr algn="l" indent="0" marL="0">
              <a:lnSpc>
                <a:spcPct val="113906"/>
              </a:lnSpc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brightness jitter </a:t>
            </a:r>
            <a:pPr algn="l" indent="0" marL="0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</a:t>
            </a:r>
            <a:pPr algn="l" indent="0" marL="0">
              <a:lnSpc>
                <a:spcPct val="113906"/>
              </a:lnSpc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dark scenes survive.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3537585"/>
            <a:ext cx="86753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learning, not from scratch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4109085"/>
            <a:ext cx="8123301" cy="872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 has 80 classes and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is fire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a pretrained model cannot detect fire at all.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90600" y="5133975"/>
            <a:ext cx="8123301" cy="1301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</a:t>
            </a:r>
            <a:pPr algn="l" indent="0" marL="0">
              <a:lnSpc>
                <a:spcPct val="120556"/>
              </a:lnSpc>
              <a:buNone/>
            </a:pPr>
            <a:r>
              <a:rPr lang="en-US" sz="2325" i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is generic vision — edges, textures and shapes learned from 118,000 images. We </a:t>
            </a:r>
            <a:pPr algn="l" indent="0" marL="0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all layers </a:t>
            </a:r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fire/smoke data.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90600" y="6663690"/>
            <a:ext cx="7886700" cy="1583055"/>
          </a:xfrm>
          <a:prstGeom prst="roundRect">
            <a:avLst>
              <a:gd name="adj" fmla="val 842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6663690"/>
            <a:ext cx="53340" cy="1583055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9" name="Text 7"/>
          <p:cNvSpPr/>
          <p:nvPr/>
        </p:nvSpPr>
        <p:spPr>
          <a:xfrm>
            <a:off x="1329690" y="6911340"/>
            <a:ext cx="7498461" cy="1125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44"/>
              </a:lnSpc>
              <a:buNone/>
            </a:pPr>
            <a:r>
              <a:rPr lang="en-US" sz="2100" dirty="0">
                <a:solidFill>
                  <a:srgbClr val="2A2A2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Final model: </a:t>
            </a:r>
            <a:pPr algn="l" indent="0" marL="0">
              <a:lnSpc>
                <a:spcPct val="115244"/>
              </a:lnSpc>
              <a:buNone/>
            </a:pPr>
            <a:r>
              <a:rPr lang="en-US" sz="2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</a:t>
            </a:r>
            <a:pPr algn="l" indent="0" marL="0">
              <a:lnSpc>
                <a:spcPct val="115244"/>
              </a:lnSpc>
              <a:buNone/>
            </a:pPr>
            <a:r>
              <a:rPr lang="en-US" sz="2100" dirty="0">
                <a:solidFill>
                  <a:srgbClr val="2A2A2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a single-stage, anchor-free detector (~5 MB). One forward pass = real-time video &amp; webcam.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10700" y="3196590"/>
            <a:ext cx="86753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FORWARD PASS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3661410"/>
            <a:ext cx="7886700" cy="1200150"/>
          </a:xfrm>
          <a:prstGeom prst="roundRect">
            <a:avLst>
              <a:gd name="adj" fmla="val 9524"/>
            </a:avLst>
          </a:prstGeom>
          <a:solidFill>
            <a:srgbClr val="435D74"/>
          </a:solidFill>
          <a:ln/>
        </p:spPr>
      </p:sp>
      <p:sp>
        <p:nvSpPr>
          <p:cNvPr id="12" name="Text 10"/>
          <p:cNvSpPr/>
          <p:nvPr/>
        </p:nvSpPr>
        <p:spPr>
          <a:xfrm>
            <a:off x="9696450" y="3909060"/>
            <a:ext cx="8046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96450" y="4301490"/>
            <a:ext cx="80467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6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features — carries the transferred COCO knowledge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3201650" y="4994910"/>
            <a:ext cx="38100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410700" y="5524500"/>
            <a:ext cx="7886700" cy="1200150"/>
          </a:xfrm>
          <a:prstGeom prst="roundRect">
            <a:avLst>
              <a:gd name="adj" fmla="val 9524"/>
            </a:avLst>
          </a:prstGeom>
          <a:solidFill>
            <a:srgbClr val="435D74"/>
          </a:solidFill>
          <a:ln/>
        </p:spPr>
      </p:sp>
      <p:sp>
        <p:nvSpPr>
          <p:cNvPr id="16" name="Text 14"/>
          <p:cNvSpPr/>
          <p:nvPr/>
        </p:nvSpPr>
        <p:spPr>
          <a:xfrm>
            <a:off x="9696450" y="5772150"/>
            <a:ext cx="8046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Neck (PAN/FPN)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96450" y="6164580"/>
            <a:ext cx="80467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6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fine detail with deep semantics for small &amp; large objects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201650" y="6858000"/>
            <a:ext cx="38100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0700" y="7387590"/>
            <a:ext cx="7886700" cy="1200150"/>
          </a:xfrm>
          <a:prstGeom prst="roundRect">
            <a:avLst>
              <a:gd name="adj" fmla="val 9524"/>
            </a:avLst>
          </a:prstGeom>
          <a:solidFill>
            <a:srgbClr val="435D74"/>
          </a:solidFill>
          <a:ln/>
        </p:spPr>
      </p:sp>
      <p:sp>
        <p:nvSpPr>
          <p:cNvPr id="20" name="Text 18"/>
          <p:cNvSpPr/>
          <p:nvPr/>
        </p:nvSpPr>
        <p:spPr>
          <a:xfrm>
            <a:off x="9696450" y="7635240"/>
            <a:ext cx="8046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→ NMS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96450" y="8027670"/>
            <a:ext cx="80467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6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boxes &amp; classes at 3 scales, then removes duplicates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135380"/>
            <a:ext cx="179374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4950" b="1" spc="-99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Experiments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90600" y="3479840"/>
            <a:ext cx="7273290" cy="2079427"/>
          </a:xfrm>
          <a:prstGeom prst="roundRect">
            <a:avLst>
              <a:gd name="adj" fmla="val 7329"/>
            </a:avLst>
          </a:prstGeom>
          <a:solidFill>
            <a:srgbClr val="17181A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3765590"/>
            <a:ext cx="72881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 wall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314450" y="4154210"/>
            <a:ext cx="6824358" cy="1157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05"/>
              </a:lnSpc>
              <a:buNone/>
            </a:pPr>
            <a:r>
              <a:rPr lang="en-US" sz="21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 GB GTX 1650 Ti. AMP auto-disabled (NaN losses on GTX 16xx), so training ran in </a:t>
            </a:r>
            <a:pPr algn="l" indent="0" marL="0">
              <a:lnSpc>
                <a:spcPct val="11780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— roughly 2× epoch time </a:t>
            </a:r>
            <a:pPr algn="l" indent="0" marL="0">
              <a:lnSpc>
                <a:spcPct val="117805"/>
              </a:lnSpc>
              <a:buNone/>
            </a:pPr>
            <a:r>
              <a:rPr lang="en-US" sz="21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" y="5768816"/>
            <a:ext cx="7273290" cy="2402205"/>
          </a:xfrm>
          <a:prstGeom prst="roundRect">
            <a:avLst>
              <a:gd name="adj" fmla="val 634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14450" y="6054566"/>
            <a:ext cx="72881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measured before assuming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314450" y="6443186"/>
            <a:ext cx="6824358" cy="1480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38"/>
              </a:lnSpc>
              <a:buNone/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 needs </a:t>
            </a:r>
            <a:pPr algn="l" indent="0" marL="0">
              <a:lnSpc>
                <a:spcPct val="116438"/>
              </a:lnSpc>
              <a:buNone/>
            </a:pPr>
            <a:r>
              <a:rPr lang="en-US" sz="20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7.94 GB </a:t>
            </a:r>
            <a:pPr algn="l" indent="0" marL="0">
              <a:lnSpc>
                <a:spcPct val="116438"/>
              </a:lnSpc>
              <a:buNone/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@batch 8 and </a:t>
            </a:r>
            <a:pPr algn="l" indent="0" marL="0">
              <a:lnSpc>
                <a:spcPct val="116438"/>
              </a:lnSpc>
              <a:buNone/>
            </a:pPr>
            <a:r>
              <a:rPr lang="en-US" sz="20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6.08 GB </a:t>
            </a:r>
            <a:pPr algn="l" indent="0" marL="0">
              <a:lnSpc>
                <a:spcPct val="116438"/>
              </a:lnSpc>
              <a:buNone/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@batch 4 — both spill to system RAM. Only </a:t>
            </a:r>
            <a:pPr algn="l" indent="0" marL="0">
              <a:lnSpc>
                <a:spcPct val="116438"/>
              </a:lnSpc>
              <a:buNone/>
            </a:pPr>
            <a:r>
              <a:rPr lang="en-US" sz="20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2 (1.0 GB) </a:t>
            </a:r>
            <a:pPr algn="l" indent="0" marL="0">
              <a:lnSpc>
                <a:spcPct val="116438"/>
              </a:lnSpc>
              <a:buNone/>
            </a:pPr>
            <a:r>
              <a:rPr lang="en-US" sz="20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fits. It completed — and still did not beat the baseline at equal epochs.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8759190" y="2125980"/>
            <a:ext cx="8538210" cy="739902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0555" b="-60555"/>
          <a:stretch/>
        </p:blipFill>
        <p:spPr>
          <a:xfrm>
            <a:off x="9006840" y="2373630"/>
            <a:ext cx="8042910" cy="63588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86197" y="8808720"/>
            <a:ext cx="8284198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on the repaired validation split — accuracy, recall &amp; the speed trade-off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990600" y="96316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7053560" y="96316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2087880"/>
            <a:ext cx="1471612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design: one control at a fixed budget, then three probes that each change </a:t>
            </a:r>
            <a:pPr algn="l" indent="0" marL="0">
              <a:buNone/>
            </a:pPr>
            <a:r>
              <a:rPr lang="en-US" sz="2250" b="1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variable </a:t>
            </a:r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Any difference is therefore attributable.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4568190"/>
            <a:ext cx="9094113" cy="3512820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568190"/>
            <a:ext cx="9094113" cy="655320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4758690"/>
            <a:ext cx="59062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— one variable changed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424130" y="4758690"/>
            <a:ext cx="23938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mAP@.5:.95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90600" y="5939790"/>
            <a:ext cx="9094113" cy="9525"/>
          </a:xfrm>
          <a:prstGeom prst="rect">
            <a:avLst/>
          </a:prstGeom>
          <a:solidFill>
            <a:srgbClr val="EFE9E1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5414010"/>
            <a:ext cx="590625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(default recipe)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424130" y="5414010"/>
            <a:ext cx="239388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0.137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90600" y="6663690"/>
            <a:ext cx="9094113" cy="9525"/>
          </a:xfrm>
          <a:prstGeom prst="rect">
            <a:avLst/>
          </a:prstGeom>
          <a:solidFill>
            <a:srgbClr val="EFE9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6137910"/>
            <a:ext cx="590625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lower learning rate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7424130" y="6137910"/>
            <a:ext cx="239388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2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0.164 ▲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90600" y="7387590"/>
            <a:ext cx="9094113" cy="9525"/>
          </a:xfrm>
          <a:prstGeom prst="rect">
            <a:avLst/>
          </a:prstGeom>
          <a:solidFill>
            <a:srgbClr val="EFE9E1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6861810"/>
            <a:ext cx="590625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stronger augmentation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7424130" y="6861810"/>
            <a:ext cx="239388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0.126 ▼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90600" y="7395210"/>
            <a:ext cx="9094113" cy="6858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7585710"/>
            <a:ext cx="5906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classification weight ×2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7424130" y="7585710"/>
            <a:ext cx="23938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0.170 ▲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0560964" y="4784408"/>
            <a:ext cx="6736437" cy="1676400"/>
          </a:xfrm>
          <a:prstGeom prst="roundRect">
            <a:avLst>
              <a:gd name="adj" fmla="val 9091"/>
            </a:avLst>
          </a:prstGeom>
          <a:solidFill>
            <a:srgbClr val="DE3B41"/>
          </a:solidFill>
          <a:ln/>
        </p:spPr>
      </p:sp>
      <p:sp>
        <p:nvSpPr>
          <p:cNvPr id="22" name="Text 20"/>
          <p:cNvSpPr/>
          <p:nvPr/>
        </p:nvSpPr>
        <p:spPr>
          <a:xfrm>
            <a:off x="10884814" y="5089207"/>
            <a:ext cx="669761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73" kern="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→ FINAL MODEL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0884814" y="5443538"/>
            <a:ext cx="6271399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1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C: classification-loss weight doubled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560964" y="6689407"/>
            <a:ext cx="6938530" cy="1213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results are reported as measured. A probe that fails to beat the control is </a:t>
            </a:r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about the data 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an embarrassment to hide.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841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408413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12867084" y="1068705"/>
            <a:ext cx="4430316" cy="579120"/>
          </a:xfrm>
          <a:prstGeom prst="roundRect">
            <a:avLst>
              <a:gd name="adj" fmla="val 50000"/>
            </a:avLst>
          </a:prstGeom>
          <a:solidFill>
            <a:srgbClr val="17181A"/>
          </a:solidFill>
          <a:ln/>
        </p:spPr>
      </p:sp>
      <p:sp>
        <p:nvSpPr>
          <p:cNvPr id="5" name="Text 3"/>
          <p:cNvSpPr/>
          <p:nvPr/>
        </p:nvSpPr>
        <p:spPr>
          <a:xfrm>
            <a:off x="13152834" y="1221105"/>
            <a:ext cx="39917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split evaluated exactly ONCE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4128135"/>
            <a:ext cx="407365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8239"/>
              </a:lnSpc>
              <a:buNone/>
            </a:pPr>
            <a:r>
              <a:rPr lang="en-US" sz="150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.505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4884420" y="5271135"/>
            <a:ext cx="861060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904"/>
              </a:lnSpc>
              <a:buNone/>
            </a:pPr>
            <a:r>
              <a:rPr lang="en-US" sz="25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@0.5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6269355"/>
            <a:ext cx="2489121" cy="1348740"/>
          </a:xfrm>
          <a:prstGeom prst="roundRect">
            <a:avLst>
              <a:gd name="adj" fmla="val 988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6497955"/>
            <a:ext cx="223511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.246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19200" y="7107555"/>
            <a:ext cx="22351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mAP@.5:.95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3689271" y="6269355"/>
            <a:ext cx="2489240" cy="1348740"/>
          </a:xfrm>
          <a:prstGeom prst="roundRect">
            <a:avLst>
              <a:gd name="adj" fmla="val 988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917871" y="6497955"/>
            <a:ext cx="223524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.591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3917871" y="7107555"/>
            <a:ext cx="22352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6388061" y="6269355"/>
            <a:ext cx="2489121" cy="1348740"/>
          </a:xfrm>
          <a:prstGeom prst="roundRect">
            <a:avLst>
              <a:gd name="adj" fmla="val 988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16661" y="6497955"/>
            <a:ext cx="223511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35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.476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6616661" y="7107555"/>
            <a:ext cx="22351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9410700" y="3821430"/>
            <a:ext cx="7886700" cy="233172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4126230"/>
            <a:ext cx="79209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AP@0.5 — SMOKE IS HARDER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53600" y="4610100"/>
            <a:ext cx="5105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6306800" y="4610100"/>
            <a:ext cx="723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0.513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753600" y="4991100"/>
            <a:ext cx="7200900" cy="152400"/>
          </a:xfrm>
          <a:prstGeom prst="roundRect">
            <a:avLst>
              <a:gd name="adj" fmla="val 50000"/>
            </a:avLst>
          </a:prstGeom>
          <a:solidFill>
            <a:srgbClr val="EFE9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753600" y="4991100"/>
            <a:ext cx="3694033" cy="15240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0" y="5314950"/>
            <a:ext cx="861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6306800" y="5314950"/>
            <a:ext cx="723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0.498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753600" y="5695950"/>
            <a:ext cx="7200900" cy="152400"/>
          </a:xfrm>
          <a:prstGeom prst="roundRect">
            <a:avLst>
              <a:gd name="adj" fmla="val 50000"/>
            </a:avLst>
          </a:prstGeom>
          <a:solidFill>
            <a:srgbClr val="EFE9E1"/>
          </a:solidFill>
          <a:ln/>
        </p:spPr>
      </p:sp>
      <p:sp>
        <p:nvSpPr>
          <p:cNvPr id="26" name="Shape 24"/>
          <p:cNvSpPr/>
          <p:nvPr/>
        </p:nvSpPr>
        <p:spPr>
          <a:xfrm>
            <a:off x="9753600" y="5695950"/>
            <a:ext cx="3586044" cy="152400"/>
          </a:xfrm>
          <a:prstGeom prst="rect">
            <a:avLst/>
          </a:prstGeom>
          <a:solidFill>
            <a:srgbClr val="435D74"/>
          </a:solidFill>
          <a:ln/>
        </p:spPr>
      </p:sp>
      <p:sp>
        <p:nvSpPr>
          <p:cNvPr id="27" name="Shape 25"/>
          <p:cNvSpPr/>
          <p:nvPr/>
        </p:nvSpPr>
        <p:spPr>
          <a:xfrm>
            <a:off x="9410700" y="6400800"/>
            <a:ext cx="7886700" cy="15240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/>
        </p:spPr>
      </p:sp>
      <p:sp>
        <p:nvSpPr>
          <p:cNvPr id="28" name="Text 26"/>
          <p:cNvSpPr/>
          <p:nvPr/>
        </p:nvSpPr>
        <p:spPr>
          <a:xfrm>
            <a:off x="9753600" y="6686550"/>
            <a:ext cx="2481072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9753600" y="7341870"/>
            <a:ext cx="24810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on GPU (18.2 ms)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485370" y="6686550"/>
            <a:ext cx="284988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2485370" y="7341870"/>
            <a:ext cx="28498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on CPU — still usable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068800" y="9593580"/>
            <a:ext cx="7620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5643B">
                  <a:alpha val="20000"/>
                </a:srgbClr>
              </a:gs>
              <a:gs pos="55000">
                <a:srgbClr val="F5643B">
                  <a:alpha val="0"/>
                </a:srgbClr>
              </a:gs>
            </a:gsLst>
            <a:path path="circle">
              <a:fillToRect l="15000" t="20000" r="85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90600" y="4326017"/>
            <a:ext cx="876300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369"/>
              </a:lnSpc>
              <a:buNone/>
            </a:pPr>
            <a:r>
              <a:rPr lang="en-US" sz="112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2000250" y="5126117"/>
            <a:ext cx="4010635" cy="796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2250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fire-vs-smoke class confusion in the </a:t>
            </a:r>
            <a:pPr algn="l" indent="0" marL="0">
              <a:lnSpc>
                <a:spcPct val="11079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</a:t>
            </a:r>
            <a:pPr algn="l" indent="0" marL="0">
              <a:lnSpc>
                <a:spcPct val="110795"/>
              </a:lnSpc>
              <a:buNone/>
            </a:pPr>
            <a:r>
              <a:rPr lang="en-US" sz="2250" dirty="0">
                <a:solidFill>
                  <a:srgbClr val="D8D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0600" y="6131957"/>
            <a:ext cx="8103679" cy="1326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78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errors are almost never about </a:t>
            </a:r>
            <a:pPr algn="l" indent="0" marL="0">
              <a:lnSpc>
                <a:spcPct val="122278"/>
              </a:lnSpc>
              <a:buNone/>
            </a:pPr>
            <a:r>
              <a:rPr lang="en-US" sz="2325" i="1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algn="l" indent="0" marL="0">
              <a:lnSpc>
                <a:spcPct val="122278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thing is — they are about </a:t>
            </a:r>
            <a:pPr algn="l" indent="0" marL="0">
              <a:lnSpc>
                <a:spcPct val="12227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it is there at all </a:t>
            </a:r>
            <a:pPr algn="l" indent="0" marL="0">
              <a:lnSpc>
                <a:spcPct val="122278"/>
              </a:lnSpc>
              <a:buNone/>
            </a:pPr>
            <a:r>
              <a:rPr lang="en-US" sz="2325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(missed faint plumes, distant flames, false alarms on warm scenes).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9429750" y="3904297"/>
            <a:ext cx="7867650" cy="3937635"/>
          </a:xfrm>
          <a:prstGeom prst="roundRect">
            <a:avLst>
              <a:gd name="adj" fmla="val 4354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6470" y="4292918"/>
            <a:ext cx="77156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DIAGNOSTIC THAT EXPLAINS 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56470" y="4796790"/>
            <a:ext cx="1143000" cy="1143000"/>
          </a:xfrm>
          <a:prstGeom prst="roundRect">
            <a:avLst>
              <a:gd name="adj" fmla="val 11667"/>
            </a:avLst>
          </a:prstGeom>
          <a:solidFill>
            <a:srgbClr val="E8541E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0" y="4795838"/>
            <a:ext cx="5792267" cy="1183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2250" dirty="0">
                <a:solidFill>
                  <a:srgbClr val="F3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orange rectangle — no fire, no texture — is read as </a:t>
            </a:r>
            <a:pPr algn="l" indent="0" marL="0">
              <a:lnSpc>
                <a:spcPct val="110795"/>
              </a:lnSpc>
              <a:buNone/>
            </a:pPr>
            <a:r>
              <a:rPr lang="en-US" sz="22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Fire, 0.74 </a:t>
            </a:r>
            <a:pPr algn="l" indent="0" marL="0">
              <a:lnSpc>
                <a:spcPct val="110795"/>
              </a:lnSpc>
              <a:buNone/>
            </a:pPr>
            <a:r>
              <a:rPr lang="en-US" sz="2250" dirty="0">
                <a:solidFill>
                  <a:srgbClr val="F3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Random noise gives </a:t>
            </a:r>
            <a:pPr algn="l" indent="0" marL="0">
              <a:lnSpc>
                <a:spcPct val="110795"/>
              </a:lnSpc>
              <a:buNone/>
            </a:pPr>
            <a:r>
              <a:rPr lang="en-US" sz="2250" b="1" dirty="0">
                <a:solidFill>
                  <a:srgbClr val="7FD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ct val="110795"/>
              </a:lnSpc>
              <a:buNone/>
            </a:pPr>
            <a:r>
              <a:rPr lang="en-US" sz="2250" dirty="0">
                <a:solidFill>
                  <a:srgbClr val="F3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56470" y="6207443"/>
            <a:ext cx="7224637" cy="1283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18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learned a </a:t>
            </a:r>
            <a:pPr algn="l" indent="0" marL="0">
              <a:lnSpc>
                <a:spcPct val="11931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prior </a:t>
            </a:r>
            <a:pPr algn="l" indent="0" marL="0">
              <a:lnSpc>
                <a:spcPct val="119318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structure of flame. That is why the next step is </a:t>
            </a:r>
            <a:pPr algn="l" indent="0" marL="0">
              <a:lnSpc>
                <a:spcPct val="119318"/>
              </a:lnSpc>
              <a:buNone/>
            </a:pPr>
            <a:r>
              <a:rPr lang="en-US" sz="2250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hard-negative mining </a:t>
            </a:r>
            <a:pPr algn="l" indent="0" marL="0">
              <a:lnSpc>
                <a:spcPct val="119318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bigger network.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135380"/>
            <a:ext cx="179374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4950" b="1" spc="-99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90600" y="2415540"/>
            <a:ext cx="1066800" cy="502920"/>
          </a:xfrm>
          <a:prstGeom prst="roundRect">
            <a:avLst>
              <a:gd name="adj" fmla="val 50000"/>
            </a:avLst>
          </a:prstGeom>
          <a:solidFill>
            <a:srgbClr val="DE3B41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529840"/>
            <a:ext cx="723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2171700" y="2415540"/>
            <a:ext cx="998220" cy="502920"/>
          </a:xfrm>
          <a:prstGeom prst="roundRect">
            <a:avLst>
              <a:gd name="adj" fmla="val 50000"/>
            </a:avLst>
          </a:prstGeom>
          <a:solidFill>
            <a:srgbClr val="DE3B41"/>
          </a:solidFill>
          <a:ln/>
        </p:spPr>
      </p:sp>
      <p:sp>
        <p:nvSpPr>
          <p:cNvPr id="7" name="Text 5"/>
          <p:cNvSpPr/>
          <p:nvPr/>
        </p:nvSpPr>
        <p:spPr>
          <a:xfrm>
            <a:off x="2381250" y="2529840"/>
            <a:ext cx="6553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284220" y="2415540"/>
            <a:ext cx="1676400" cy="502920"/>
          </a:xfrm>
          <a:prstGeom prst="roundRect">
            <a:avLst>
              <a:gd name="adj" fmla="val 50000"/>
            </a:avLst>
          </a:prstGeom>
          <a:solidFill>
            <a:srgbClr val="DE3B41"/>
          </a:solidFill>
          <a:ln/>
        </p:spPr>
      </p:sp>
      <p:sp>
        <p:nvSpPr>
          <p:cNvPr id="9" name="Text 7"/>
          <p:cNvSpPr/>
          <p:nvPr/>
        </p:nvSpPr>
        <p:spPr>
          <a:xfrm>
            <a:off x="3493770" y="2529840"/>
            <a:ext cx="13335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74920" y="24155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435D74"/>
          </a:solidFill>
          <a:ln/>
        </p:spPr>
      </p:sp>
      <p:sp>
        <p:nvSpPr>
          <p:cNvPr id="11" name="Text 9"/>
          <p:cNvSpPr/>
          <p:nvPr/>
        </p:nvSpPr>
        <p:spPr>
          <a:xfrm>
            <a:off x="5284470" y="2529840"/>
            <a:ext cx="13944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3032760"/>
            <a:ext cx="1028700" cy="502920"/>
          </a:xfrm>
          <a:prstGeom prst="roundRect">
            <a:avLst>
              <a:gd name="adj" fmla="val 50000"/>
            </a:avLst>
          </a:prstGeom>
          <a:solidFill>
            <a:srgbClr val="435D74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3147060"/>
            <a:ext cx="6858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600" y="3726180"/>
            <a:ext cx="6727984" cy="194310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3726180"/>
            <a:ext cx="53340" cy="194310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16" name="Text 14"/>
          <p:cNvSpPr/>
          <p:nvPr/>
        </p:nvSpPr>
        <p:spPr>
          <a:xfrm>
            <a:off x="1329690" y="3973830"/>
            <a:ext cx="6304984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44"/>
              </a:lnSpc>
              <a:buNone/>
            </a:pPr>
            <a:r>
              <a:rPr lang="en-US" sz="2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inference engine. </a:t>
            </a:r>
            <a:pPr algn="l" indent="0" marL="0">
              <a:lnSpc>
                <a:spcPct val="115244"/>
              </a:lnSpc>
              <a:buNone/>
            </a:pPr>
            <a:r>
              <a:rPr lang="en-US" sz="2100" dirty="0">
                <a:solidFill>
                  <a:srgbClr val="2A2A2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Image, video and webcam all call the same predict path — a threshold means the same thing everywhere, and there is exactly one place a bug could hide.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5859780"/>
            <a:ext cx="6727984" cy="1583055"/>
          </a:xfrm>
          <a:prstGeom prst="roundRect">
            <a:avLst>
              <a:gd name="adj" fmla="val 842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" y="5859780"/>
            <a:ext cx="53340" cy="1583055"/>
          </a:xfrm>
          <a:prstGeom prst="rect">
            <a:avLst/>
          </a:prstGeom>
          <a:solidFill>
            <a:srgbClr val="435D74"/>
          </a:solidFill>
          <a:ln/>
        </p:spPr>
      </p:sp>
      <p:sp>
        <p:nvSpPr>
          <p:cNvPr id="19" name="Text 17"/>
          <p:cNvSpPr/>
          <p:nvPr/>
        </p:nvSpPr>
        <p:spPr>
          <a:xfrm>
            <a:off x="1329690" y="6107430"/>
            <a:ext cx="6304984" cy="1125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44"/>
              </a:lnSpc>
              <a:buNone/>
            </a:pPr>
            <a:r>
              <a:rPr lang="en-US" sz="2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desktop fallback. </a:t>
            </a:r>
            <a:pPr algn="l" indent="0" marL="0">
              <a:lnSpc>
                <a:spcPct val="115244"/>
              </a:lnSpc>
              <a:buNone/>
            </a:pPr>
            <a:r>
              <a:rPr lang="en-US" sz="2100" dirty="0">
                <a:solidFill>
                  <a:srgbClr val="2A2A2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Browser camera access fails in exactly the situation where a demo must not — so there is an offline path that always works.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90600" y="7633335"/>
            <a:ext cx="6727984" cy="1583055"/>
          </a:xfrm>
          <a:prstGeom prst="roundRect">
            <a:avLst>
              <a:gd name="adj" fmla="val 8424"/>
            </a:avLst>
          </a:prstGeom>
          <a:solidFill>
            <a:srgbClr val="17181A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" y="7880985"/>
            <a:ext cx="6358324" cy="1125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44"/>
              </a:lnSpc>
              <a:buNone/>
            </a:pPr>
            <a:r>
              <a:rPr lang="en-US" sz="2100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design. </a:t>
            </a:r>
            <a:pPr algn="l" indent="0" marL="0">
              <a:lnSpc>
                <a:spcPct val="115244"/>
              </a:lnSpc>
              <a:buNone/>
            </a:pPr>
            <a:r>
              <a:rPr lang="en-US" sz="2100" dirty="0">
                <a:solidFill>
                  <a:srgbClr val="EDE8E0"/>
                </a:solidFill>
                <a:highlight>
                  <a:srgbClr val="1718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Everything runs locally — no frame ever leaves the machine. Two classes only; no face or identity recognition.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194834" y="2900005"/>
            <a:ext cx="9102566" cy="583192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0" dist="228600" dir="5400000">
              <a:srgbClr val="17181A">
                <a:alpha val="14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334" y="3090505"/>
            <a:ext cx="8721566" cy="5450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90600" y="96316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7053560" y="96316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E3B41">
                  <a:alpha val="24000"/>
                </a:srgbClr>
              </a:gs>
              <a:gs pos="55000">
                <a:srgbClr val="DE3B41">
                  <a:alpha val="0"/>
                </a:srgbClr>
              </a:gs>
            </a:gsLst>
            <a:path path="circle">
              <a:fillToRect l="80000" t="85000" r="20000" b="15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90600" y="1459230"/>
            <a:ext cx="171450" cy="171450"/>
          </a:xfrm>
          <a:prstGeom prst="ellipse">
            <a:avLst/>
          </a:prstGeom>
          <a:solidFill>
            <a:srgbClr val="DE3B41"/>
          </a:solidFill>
          <a:ln/>
          <a:effectLst>
            <a:outerShdw sx="100000" sy="100000" kx="0" ky="0" algn="bl" rotWithShape="0" blurRad="101600" dist="50800" dir="16200000">
              <a:srgbClr val="DE3B4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1211580"/>
            <a:ext cx="608952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990600" y="4170045"/>
            <a:ext cx="86544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4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ORDER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5825" y="4653915"/>
            <a:ext cx="81987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28625" indent="-428625">
              <a:lnSpc>
                <a:spcPct val="144886"/>
              </a:lnSpc>
              <a:buSzPct val="100000"/>
              <a:buFont typeface="+mj-lt"/>
              <a:buAutoNum type="arabicPeriod" startAt="1"/>
              <a:tabLst>
                <a:tab pos="428625" algn="l"/>
              </a:tabLst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device status in the sidebar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85825" y="5139690"/>
            <a:ext cx="81987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28625" indent="-428625">
              <a:lnSpc>
                <a:spcPct val="144886"/>
              </a:lnSpc>
              <a:buSzPct val="100000"/>
              <a:buFont typeface="+mj-lt"/>
              <a:buAutoNum type="arabicPeriod" startAt="2"/>
              <a:tabLst>
                <a:tab pos="428625" algn="l"/>
              </a:tabLst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fire image → boxes, counts, downloads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85825" y="5625465"/>
            <a:ext cx="81987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28625" indent="-428625">
              <a:lnSpc>
                <a:spcPct val="144886"/>
              </a:lnSpc>
              <a:buSzPct val="100000"/>
              <a:buFont typeface="+mj-lt"/>
              <a:buAutoNum type="arabicPeriod" startAt="3"/>
              <a:tabLst>
                <a:tab pos="428625" algn="l"/>
              </a:tabLst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smoke image, then a both-classes image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5825" y="6111240"/>
            <a:ext cx="8198739" cy="53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28625" indent="-428625">
              <a:lnSpc>
                <a:spcPct val="144886"/>
              </a:lnSpc>
              <a:buSzPct val="100000"/>
              <a:buFont typeface="+mj-lt"/>
              <a:buAutoNum type="arabicPeriod" startAt="4"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/ negative image — </a:t>
            </a:r>
            <a:pPr algn="l" indent="0" marL="0">
              <a:lnSpc>
                <a:spcPct val="144886"/>
              </a:lnSpc>
              <a:buNone/>
            </a:pPr>
            <a:r>
              <a:rPr lang="en-US" sz="2250" i="1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it be wrong</a:t>
            </a:r>
            <a:pPr algn="l" indent="0" marL="0">
              <a:lnSpc>
                <a:spcPct val="144886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explain why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85825" y="6604635"/>
            <a:ext cx="81987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28625" indent="-428625">
              <a:lnSpc>
                <a:spcPct val="144886"/>
              </a:lnSpc>
              <a:buSzPct val="100000"/>
              <a:buFont typeface="+mj-lt"/>
              <a:buAutoNum type="arabicPeriod" startAt="5"/>
              <a:tabLst>
                <a:tab pos="428625" algn="l"/>
              </a:tabLst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short video, then start the webcam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85825" y="7090410"/>
            <a:ext cx="81987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28625" indent="-428625">
              <a:lnSpc>
                <a:spcPct val="144886"/>
              </a:lnSpc>
              <a:buSzPct val="100000"/>
              <a:buFont typeface="+mj-lt"/>
              <a:buAutoNum type="arabicPeriod" startAt="6"/>
              <a:tabLst>
                <a:tab pos="428625" algn="l"/>
              </a:tabLst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Model Performance tab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29750" y="2750582"/>
            <a:ext cx="7867650" cy="6245066"/>
          </a:xfrm>
          <a:prstGeom prst="roundRect">
            <a:avLst>
              <a:gd name="adj" fmla="val 2745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67752"/>
            <a:ext cx="7433310" cy="464581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646920" y="7785021"/>
            <a:ext cx="7433310" cy="993458"/>
          </a:xfrm>
          <a:prstGeom prst="roundRect">
            <a:avLst>
              <a:gd name="adj" fmla="val 9588"/>
            </a:avLst>
          </a:prstGeom>
          <a:solidFill>
            <a:srgbClr val="F5643B">
              <a:alpha val="1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856470" y="7956471"/>
            <a:ext cx="7237210" cy="688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87"/>
              </a:lnSpc>
              <a:buNone/>
            </a:pPr>
            <a:r>
              <a:rPr lang="en-US" sz="1875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anything fails: </a:t>
            </a:r>
            <a:pPr algn="l" indent="0" marL="0">
              <a:lnSpc>
                <a:spcPct val="117187"/>
              </a:lnSpc>
              <a:buNone/>
            </a:pPr>
            <a:r>
              <a:rPr lang="en-US" sz="1875" dirty="0">
                <a:solidFill>
                  <a:srgbClr val="F3D9CE"/>
                </a:solidFill>
                <a:highlight>
                  <a:srgbClr val="FEE9E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OpenCV fallback → backup video. Never debug live.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Worked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90600" y="2087880"/>
            <a:ext cx="1793748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one-week Scrum sprints · five roles · 84 story points.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2834640"/>
            <a:ext cx="3905250" cy="214503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834640"/>
            <a:ext cx="3905250" cy="5334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192780"/>
            <a:ext cx="36252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3604260"/>
            <a:ext cx="339451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dataset validation, leakage repair, EDA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4400550"/>
            <a:ext cx="36252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4450" y="2834640"/>
            <a:ext cx="3905250" cy="214503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124450" y="2834640"/>
            <a:ext cx="3905250" cy="5334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12" name="Text 10"/>
          <p:cNvSpPr/>
          <p:nvPr/>
        </p:nvSpPr>
        <p:spPr>
          <a:xfrm>
            <a:off x="5429250" y="3192780"/>
            <a:ext cx="36252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29250" y="3604260"/>
            <a:ext cx="339451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Environment, baseline, YOLOv8s, evaluation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29250" y="4400550"/>
            <a:ext cx="36252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58300" y="2834640"/>
            <a:ext cx="3905250" cy="214503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58300" y="2834640"/>
            <a:ext cx="3905250" cy="5334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17" name="Text 15"/>
          <p:cNvSpPr/>
          <p:nvPr/>
        </p:nvSpPr>
        <p:spPr>
          <a:xfrm>
            <a:off x="9563100" y="3192780"/>
            <a:ext cx="36252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63100" y="3604260"/>
            <a:ext cx="339451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probes, final model, Streamlit app, webcam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63100" y="4400550"/>
            <a:ext cx="36252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92150" y="2834640"/>
            <a:ext cx="3905250" cy="214503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3392150" y="2834640"/>
            <a:ext cx="3905250" cy="53340"/>
          </a:xfrm>
          <a:prstGeom prst="rect">
            <a:avLst/>
          </a:prstGeom>
          <a:solidFill>
            <a:srgbClr val="DE3B41"/>
          </a:solidFill>
          <a:ln/>
        </p:spPr>
      </p:sp>
      <p:sp>
        <p:nvSpPr>
          <p:cNvPr id="22" name="Text 20"/>
          <p:cNvSpPr/>
          <p:nvPr/>
        </p:nvSpPr>
        <p:spPr>
          <a:xfrm>
            <a:off x="13696950" y="3192780"/>
            <a:ext cx="36252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696950" y="3604260"/>
            <a:ext cx="339451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eval, error analysis, report, slides, packaging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696950" y="4400550"/>
            <a:ext cx="36252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pts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600" y="5303520"/>
            <a:ext cx="9835635" cy="1746885"/>
          </a:xfrm>
          <a:prstGeom prst="roundRect">
            <a:avLst>
              <a:gd name="adj" fmla="val 8724"/>
            </a:avLst>
          </a:prstGeom>
          <a:solidFill>
            <a:srgbClr val="17181A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" y="5589270"/>
            <a:ext cx="9444904" cy="1213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highlight>
                  <a:srgbClr val="1718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Risk management earned its keep: the </a:t>
            </a:r>
            <a:pPr algn="l" indent="0" marL="0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risk was caught in Sprint 1 planning </a:t>
            </a:r>
            <a:pPr algn="l" indent="0" marL="0">
              <a:lnSpc>
                <a:spcPct val="120833"/>
              </a:lnSpc>
              <a:buNone/>
            </a:pPr>
            <a:r>
              <a:rPr lang="en-US" sz="2175" dirty="0">
                <a:solidFill>
                  <a:srgbClr val="EDE8E0"/>
                </a:solidFill>
                <a:highlight>
                  <a:srgbClr val="1718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fixed before a single GPU-hour was spent on a model whose evaluation would have been meaningless.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11150085" y="5303520"/>
            <a:ext cx="6147316" cy="1746885"/>
          </a:xfrm>
          <a:prstGeom prst="roundRect">
            <a:avLst>
              <a:gd name="adj" fmla="val 8724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492985" y="5670232"/>
            <a:ext cx="6007668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5400" b="1" dirty="0">
                <a:solidFill>
                  <a:srgbClr val="2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✓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11492985" y="6363653"/>
            <a:ext cx="60076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90600" y="9593580"/>
            <a:ext cx="233019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053560" y="9593580"/>
            <a:ext cx="7772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7B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5643B">
                  <a:alpha val="24000"/>
                </a:srgbClr>
              </a:gs>
              <a:gs pos="52000">
                <a:srgbClr val="F5643B">
                  <a:alpha val="0"/>
                </a:srgbClr>
              </a:gs>
            </a:gsLst>
            <a:path path="circle">
              <a:fillToRect l="85000" t="12000" r="15000" b="8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79374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21158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38"/>
              </a:lnSpc>
              <a:buNone/>
            </a:pPr>
            <a:r>
              <a:rPr lang="en-US" sz="5250" b="1" spc="-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90600" y="2259330"/>
            <a:ext cx="995257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4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LESSONS WORTH CARRYING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762250"/>
            <a:ext cx="3124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55420" y="2762250"/>
            <a:ext cx="8840467" cy="824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5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hygiene moved results more than any hyperparameter. </a:t>
            </a:r>
            <a:pPr algn="l" indent="0" marL="0">
              <a:lnSpc>
                <a:spcPct val="115057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Two-thirds of the images leaked across splits.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3758565"/>
            <a:ext cx="3124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455420" y="3758565"/>
            <a:ext cx="8840467" cy="824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5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errors are detection errors, not classification errors </a:t>
            </a:r>
            <a:pPr algn="l" indent="0" marL="0">
              <a:lnSpc>
                <a:spcPct val="115057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hard negatives and faint-plume sensitivity come next.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4754880"/>
            <a:ext cx="3124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13"/>
              </a:lnSpc>
              <a:buNone/>
            </a:pPr>
            <a:r>
              <a:rPr lang="en-US" sz="3300" b="1" dirty="0">
                <a:solidFill>
                  <a:srgbClr val="DE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455420" y="4754880"/>
            <a:ext cx="8840467" cy="824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5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confidence threshold is a safety decision, </a:t>
            </a:r>
            <a:pPr algn="l" indent="0" marL="0">
              <a:lnSpc>
                <a:spcPct val="115057"/>
              </a:lnSpc>
              <a:buNone/>
            </a:pPr>
            <a:r>
              <a:rPr lang="en-US" sz="225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library default to accept silently.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609898" y="2259330"/>
            <a:ext cx="73562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B4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09898" y="2686050"/>
            <a:ext cx="2575560" cy="502920"/>
          </a:xfrm>
          <a:prstGeom prst="roundRect">
            <a:avLst>
              <a:gd name="adj" fmla="val 50000"/>
            </a:avLst>
          </a:prstGeom>
          <a:ln w="762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8968" y="2788920"/>
            <a:ext cx="229468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Hard-negative mining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99758" y="2686050"/>
            <a:ext cx="2545080" cy="502920"/>
          </a:xfrm>
          <a:prstGeom prst="roundRect">
            <a:avLst>
              <a:gd name="adj" fmla="val 50000"/>
            </a:avLst>
          </a:prstGeom>
          <a:ln w="762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78828" y="2788920"/>
            <a:ext cx="22632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/ RGB fusion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09898" y="3303270"/>
            <a:ext cx="2385060" cy="502920"/>
          </a:xfrm>
          <a:prstGeom prst="roundRect">
            <a:avLst>
              <a:gd name="adj" fmla="val 50000"/>
            </a:avLst>
          </a:prstGeom>
          <a:ln w="762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8968" y="3406140"/>
            <a:ext cx="21031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modelling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109258" y="3303270"/>
            <a:ext cx="3048000" cy="502920"/>
          </a:xfrm>
          <a:prstGeom prst="roundRect">
            <a:avLst>
              <a:gd name="adj" fmla="val 50000"/>
            </a:avLst>
          </a:prstGeom>
          <a:ln w="762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88328" y="3406140"/>
            <a:ext cx="278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resolution (960 px)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9898" y="3920490"/>
            <a:ext cx="2133600" cy="502920"/>
          </a:xfrm>
          <a:prstGeom prst="roundRect">
            <a:avLst>
              <a:gd name="adj" fmla="val 50000"/>
            </a:avLst>
          </a:prstGeom>
          <a:ln w="762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8968" y="4023360"/>
            <a:ext cx="18516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D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deployment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609898" y="6968014"/>
            <a:ext cx="6687503" cy="1444466"/>
          </a:xfrm>
          <a:prstGeom prst="roundRect">
            <a:avLst>
              <a:gd name="adj" fmla="val 9232"/>
            </a:avLst>
          </a:prstGeom>
          <a:solidFill>
            <a:srgbClr val="DE3B41">
              <a:alpha val="14000"/>
            </a:srgbClr>
          </a:solidFill>
          <a:ln w="7620">
            <a:solidFill>
              <a:srgbClr val="DE3B4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4218" y="7204234"/>
            <a:ext cx="6339488" cy="1010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87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prototype only. </a:t>
            </a:r>
            <a:pPr algn="l" indent="0" marL="0">
              <a:lnSpc>
                <a:spcPct val="117187"/>
              </a:lnSpc>
              <a:buNone/>
            </a:pPr>
            <a:r>
              <a:rPr lang="en-US" sz="1875" dirty="0">
                <a:solidFill>
                  <a:srgbClr val="F3D9CE"/>
                </a:solidFill>
                <a:highlight>
                  <a:srgbClr val="FAE4E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Not a certified fire-detection or emergency system — never a replacement for smoke detectors, alarms, procedures or human supervision.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90600" y="8698230"/>
            <a:ext cx="163068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8953500"/>
            <a:ext cx="512140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5522655" y="9052560"/>
            <a:ext cx="19522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56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FlameGuard AI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2026-07-21T02:08:07Z</dcterms:created>
  <dcterms:modified xsi:type="dcterms:W3CDTF">2026-07-21T02:08:07Z</dcterms:modified>
</cp:coreProperties>
</file>